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21"/>
    <p:sldId id="265" r:id="rId15"/>
  </p:sldIdLst>
  <p:sldSz cx="18288000" cy="10287000"/>
  <p:notesSz cx="6858000" cy="9144000"/>
  <p:embeddedFontLst>
    <p:embeddedFont>
      <p:font typeface="Academy" charset="1" panose="00000000000000000000"/>
      <p:regular r:id="rId16"/>
    </p:embeddedFont>
    <p:embeddedFont>
      <p:font typeface="Open Sans 2 Bold" charset="1" panose="00000000000000000000"/>
      <p:regular r:id="rId17"/>
    </p:embeddedFont>
    <p:embeddedFont>
      <p:font typeface="Open Sans 2" charset="1" panose="00000000000000000000"/>
      <p:regular r:id="rId18"/>
    </p:embeddedFont>
    <p:embeddedFont>
      <p:font typeface="Helvetica World" charset="1" panose="020B0500040000020004"/>
      <p:regular r:id="rId19"/>
    </p:embeddedFont>
    <p:embeddedFont>
      <p:font typeface="Helvetica World Bold" charset="1" panose="020B080004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3.png"/><Relationship Id="rId7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jpe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13.jpeg"/><Relationship Id="rId6" Type="http://schemas.openxmlformats.org/officeDocument/2006/relationships/image" Target="../media/image14.jpeg"/><Relationship Id="rId7" Type="http://schemas.openxmlformats.org/officeDocument/2006/relationships/image" Target="../media/image15.jpeg"/><Relationship Id="rId8" Type="http://schemas.openxmlformats.org/officeDocument/2006/relationships/image" Target="../media/image16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9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74311" y="632770"/>
            <a:ext cx="3900594" cy="547695"/>
            <a:chOff x="0" y="0"/>
            <a:chExt cx="1358477" cy="190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8477" cy="190748"/>
            </a:xfrm>
            <a:custGeom>
              <a:avLst/>
              <a:gdLst/>
              <a:ahLst/>
              <a:cxnLst/>
              <a:rect r="r" b="b" t="t" l="l"/>
              <a:pathLst>
                <a:path h="190748" w="1358477">
                  <a:moveTo>
                    <a:pt x="95374" y="0"/>
                  </a:moveTo>
                  <a:lnTo>
                    <a:pt x="1263103" y="0"/>
                  </a:lnTo>
                  <a:cubicBezTo>
                    <a:pt x="1315776" y="0"/>
                    <a:pt x="1358477" y="42700"/>
                    <a:pt x="1358477" y="95374"/>
                  </a:cubicBezTo>
                  <a:lnTo>
                    <a:pt x="1358477" y="95374"/>
                  </a:lnTo>
                  <a:cubicBezTo>
                    <a:pt x="1358477" y="120669"/>
                    <a:pt x="1348429" y="144928"/>
                    <a:pt x="1330542" y="162814"/>
                  </a:cubicBezTo>
                  <a:cubicBezTo>
                    <a:pt x="1312656" y="180700"/>
                    <a:pt x="1288398" y="190748"/>
                    <a:pt x="1263103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58477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22427">
            <a:off x="1903808" y="1886393"/>
            <a:ext cx="14480383" cy="6131333"/>
          </a:xfrm>
          <a:custGeom>
            <a:avLst/>
            <a:gdLst/>
            <a:ahLst/>
            <a:cxnLst/>
            <a:rect r="r" b="b" t="t" l="l"/>
            <a:pathLst>
              <a:path h="6131333" w="14480383">
                <a:moveTo>
                  <a:pt x="0" y="0"/>
                </a:moveTo>
                <a:lnTo>
                  <a:pt x="14480384" y="0"/>
                </a:lnTo>
                <a:lnTo>
                  <a:pt x="14480384" y="6131333"/>
                </a:lnTo>
                <a:lnTo>
                  <a:pt x="0" y="613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61480" y="637016"/>
            <a:ext cx="3133243" cy="547695"/>
            <a:chOff x="0" y="0"/>
            <a:chExt cx="1091228" cy="1907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228" cy="190748"/>
            </a:xfrm>
            <a:custGeom>
              <a:avLst/>
              <a:gdLst/>
              <a:ahLst/>
              <a:cxnLst/>
              <a:rect r="r" b="b" t="t" l="l"/>
              <a:pathLst>
                <a:path h="190748" w="1091228">
                  <a:moveTo>
                    <a:pt x="95374" y="0"/>
                  </a:moveTo>
                  <a:lnTo>
                    <a:pt x="995854" y="0"/>
                  </a:lnTo>
                  <a:cubicBezTo>
                    <a:pt x="1048528" y="0"/>
                    <a:pt x="1091228" y="42700"/>
                    <a:pt x="1091228" y="95374"/>
                  </a:cubicBezTo>
                  <a:lnTo>
                    <a:pt x="1091228" y="95374"/>
                  </a:lnTo>
                  <a:cubicBezTo>
                    <a:pt x="1091228" y="120669"/>
                    <a:pt x="1081180" y="144928"/>
                    <a:pt x="1063294" y="162814"/>
                  </a:cubicBezTo>
                  <a:cubicBezTo>
                    <a:pt x="1045408" y="180700"/>
                    <a:pt x="1021149" y="190748"/>
                    <a:pt x="995854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91228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1243" y="3741361"/>
            <a:ext cx="14745514" cy="261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70"/>
              </a:lnSpc>
            </a:pPr>
            <a:r>
              <a:rPr lang="en-US" sz="12000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MEDIVISION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0125" y="8860251"/>
            <a:ext cx="2015611" cy="26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2"/>
              </a:lnSpc>
            </a:pPr>
            <a:r>
              <a:rPr lang="en-US" b="true" sz="2099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Presented by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775" y="9213235"/>
            <a:ext cx="1756312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9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Project 604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90036" y="8815307"/>
            <a:ext cx="1756312" cy="26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2"/>
              </a:lnSpc>
            </a:pP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Supervisor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90036" y="9170385"/>
            <a:ext cx="1756312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9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Sweta Sri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80298" y="8815307"/>
            <a:ext cx="1756312" cy="26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2"/>
              </a:lnSpc>
            </a:pPr>
            <a:r>
              <a:rPr lang="en-US" sz="2099" b="true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Year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80298" y="9170385"/>
            <a:ext cx="1756312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999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480" y="689447"/>
            <a:ext cx="31332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MediVision 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74311" y="678163"/>
            <a:ext cx="390059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+ ViT + XAI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3627138" cy="8229600"/>
            <a:chOff x="0" y="0"/>
            <a:chExt cx="595242" cy="13505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5242" cy="1350542"/>
            </a:xfrm>
            <a:custGeom>
              <a:avLst/>
              <a:gdLst/>
              <a:ahLst/>
              <a:cxnLst/>
              <a:rect r="r" b="b" t="t" l="l"/>
              <a:pathLst>
                <a:path h="1350542" w="595242">
                  <a:moveTo>
                    <a:pt x="87512" y="0"/>
                  </a:moveTo>
                  <a:lnTo>
                    <a:pt x="507730" y="0"/>
                  </a:lnTo>
                  <a:cubicBezTo>
                    <a:pt x="530939" y="0"/>
                    <a:pt x="553199" y="9220"/>
                    <a:pt x="569610" y="25632"/>
                  </a:cubicBezTo>
                  <a:cubicBezTo>
                    <a:pt x="586022" y="42043"/>
                    <a:pt x="595242" y="64303"/>
                    <a:pt x="595242" y="87512"/>
                  </a:cubicBezTo>
                  <a:lnTo>
                    <a:pt x="595242" y="1263030"/>
                  </a:lnTo>
                  <a:cubicBezTo>
                    <a:pt x="595242" y="1286240"/>
                    <a:pt x="586022" y="1308499"/>
                    <a:pt x="569610" y="1324911"/>
                  </a:cubicBezTo>
                  <a:cubicBezTo>
                    <a:pt x="553199" y="1341322"/>
                    <a:pt x="530939" y="1350542"/>
                    <a:pt x="507730" y="1350542"/>
                  </a:cubicBezTo>
                  <a:lnTo>
                    <a:pt x="87512" y="1350542"/>
                  </a:lnTo>
                  <a:cubicBezTo>
                    <a:pt x="39181" y="1350542"/>
                    <a:pt x="0" y="1311362"/>
                    <a:pt x="0" y="1263030"/>
                  </a:cubicBezTo>
                  <a:lnTo>
                    <a:pt x="0" y="87512"/>
                  </a:lnTo>
                  <a:cubicBezTo>
                    <a:pt x="0" y="64303"/>
                    <a:pt x="9220" y="42043"/>
                    <a:pt x="25632" y="25632"/>
                  </a:cubicBezTo>
                  <a:cubicBezTo>
                    <a:pt x="42043" y="9220"/>
                    <a:pt x="64303" y="0"/>
                    <a:pt x="87512" y="0"/>
                  </a:cubicBezTo>
                  <a:close/>
                </a:path>
              </a:pathLst>
            </a:custGeom>
            <a:blipFill>
              <a:blip r:embed="rId3"/>
              <a:stretch>
                <a:fillRect l="-25582" t="0" r="-25582" b="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289455" y="7820587"/>
            <a:ext cx="3105629" cy="1104677"/>
            <a:chOff x="0" y="0"/>
            <a:chExt cx="1145666" cy="407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5666" cy="407416"/>
            </a:xfrm>
            <a:custGeom>
              <a:avLst/>
              <a:gdLst/>
              <a:ahLst/>
              <a:cxnLst/>
              <a:rect r="r" b="b" t="t" l="l"/>
              <a:pathLst>
                <a:path h="407416" w="1145666">
                  <a:moveTo>
                    <a:pt x="1145666" y="39886"/>
                  </a:moveTo>
                  <a:lnTo>
                    <a:pt x="1145666" y="367530"/>
                  </a:lnTo>
                  <a:cubicBezTo>
                    <a:pt x="1145666" y="389559"/>
                    <a:pt x="1127809" y="407416"/>
                    <a:pt x="1105780" y="407416"/>
                  </a:cubicBezTo>
                  <a:lnTo>
                    <a:pt x="39886" y="407416"/>
                  </a:lnTo>
                  <a:cubicBezTo>
                    <a:pt x="17858" y="407416"/>
                    <a:pt x="0" y="389559"/>
                    <a:pt x="0" y="367530"/>
                  </a:cubicBezTo>
                  <a:lnTo>
                    <a:pt x="0" y="39886"/>
                  </a:lnTo>
                  <a:cubicBezTo>
                    <a:pt x="0" y="17858"/>
                    <a:pt x="17858" y="0"/>
                    <a:pt x="39886" y="0"/>
                  </a:cubicBezTo>
                  <a:lnTo>
                    <a:pt x="1105780" y="0"/>
                  </a:lnTo>
                  <a:cubicBezTo>
                    <a:pt x="1127809" y="0"/>
                    <a:pt x="1145666" y="17858"/>
                    <a:pt x="1145666" y="398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45666" cy="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43194" y="1028700"/>
            <a:ext cx="3627138" cy="8229600"/>
            <a:chOff x="0" y="0"/>
            <a:chExt cx="595242" cy="13505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5242" cy="1350542"/>
            </a:xfrm>
            <a:custGeom>
              <a:avLst/>
              <a:gdLst/>
              <a:ahLst/>
              <a:cxnLst/>
              <a:rect r="r" b="b" t="t" l="l"/>
              <a:pathLst>
                <a:path h="1350542" w="595242">
                  <a:moveTo>
                    <a:pt x="87512" y="0"/>
                  </a:moveTo>
                  <a:lnTo>
                    <a:pt x="507730" y="0"/>
                  </a:lnTo>
                  <a:cubicBezTo>
                    <a:pt x="530939" y="0"/>
                    <a:pt x="553199" y="9220"/>
                    <a:pt x="569610" y="25632"/>
                  </a:cubicBezTo>
                  <a:cubicBezTo>
                    <a:pt x="586022" y="42043"/>
                    <a:pt x="595242" y="64303"/>
                    <a:pt x="595242" y="87512"/>
                  </a:cubicBezTo>
                  <a:lnTo>
                    <a:pt x="595242" y="1263030"/>
                  </a:lnTo>
                  <a:cubicBezTo>
                    <a:pt x="595242" y="1286240"/>
                    <a:pt x="586022" y="1308499"/>
                    <a:pt x="569610" y="1324911"/>
                  </a:cubicBezTo>
                  <a:cubicBezTo>
                    <a:pt x="553199" y="1341322"/>
                    <a:pt x="530939" y="1350542"/>
                    <a:pt x="507730" y="1350542"/>
                  </a:cubicBezTo>
                  <a:lnTo>
                    <a:pt x="87512" y="1350542"/>
                  </a:lnTo>
                  <a:cubicBezTo>
                    <a:pt x="39181" y="1350542"/>
                    <a:pt x="0" y="1311362"/>
                    <a:pt x="0" y="1263030"/>
                  </a:cubicBezTo>
                  <a:lnTo>
                    <a:pt x="0" y="87512"/>
                  </a:lnTo>
                  <a:cubicBezTo>
                    <a:pt x="0" y="64303"/>
                    <a:pt x="9220" y="42043"/>
                    <a:pt x="25632" y="25632"/>
                  </a:cubicBezTo>
                  <a:cubicBezTo>
                    <a:pt x="42043" y="9220"/>
                    <a:pt x="64303" y="0"/>
                    <a:pt x="87512" y="0"/>
                  </a:cubicBezTo>
                  <a:close/>
                </a:path>
              </a:pathLst>
            </a:custGeom>
            <a:blipFill>
              <a:blip r:embed="rId4"/>
              <a:stretch>
                <a:fillRect l="-25582" t="0" r="-25582" b="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103949" y="7820587"/>
            <a:ext cx="3105629" cy="1104677"/>
            <a:chOff x="0" y="0"/>
            <a:chExt cx="1145666" cy="4074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5666" cy="407416"/>
            </a:xfrm>
            <a:custGeom>
              <a:avLst/>
              <a:gdLst/>
              <a:ahLst/>
              <a:cxnLst/>
              <a:rect r="r" b="b" t="t" l="l"/>
              <a:pathLst>
                <a:path h="407416" w="1145666">
                  <a:moveTo>
                    <a:pt x="1145666" y="39886"/>
                  </a:moveTo>
                  <a:lnTo>
                    <a:pt x="1145666" y="367530"/>
                  </a:lnTo>
                  <a:cubicBezTo>
                    <a:pt x="1145666" y="389559"/>
                    <a:pt x="1127809" y="407416"/>
                    <a:pt x="1105780" y="407416"/>
                  </a:cubicBezTo>
                  <a:lnTo>
                    <a:pt x="39886" y="407416"/>
                  </a:lnTo>
                  <a:cubicBezTo>
                    <a:pt x="17858" y="407416"/>
                    <a:pt x="0" y="389559"/>
                    <a:pt x="0" y="367530"/>
                  </a:cubicBezTo>
                  <a:lnTo>
                    <a:pt x="0" y="39886"/>
                  </a:lnTo>
                  <a:cubicBezTo>
                    <a:pt x="0" y="17858"/>
                    <a:pt x="17858" y="0"/>
                    <a:pt x="39886" y="0"/>
                  </a:cubicBezTo>
                  <a:lnTo>
                    <a:pt x="1105780" y="0"/>
                  </a:lnTo>
                  <a:cubicBezTo>
                    <a:pt x="1127809" y="0"/>
                    <a:pt x="1145666" y="17858"/>
                    <a:pt x="1145666" y="398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45666" cy="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657689" y="1028700"/>
            <a:ext cx="3627138" cy="8229600"/>
            <a:chOff x="0" y="0"/>
            <a:chExt cx="595242" cy="13505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5242" cy="1350542"/>
            </a:xfrm>
            <a:custGeom>
              <a:avLst/>
              <a:gdLst/>
              <a:ahLst/>
              <a:cxnLst/>
              <a:rect r="r" b="b" t="t" l="l"/>
              <a:pathLst>
                <a:path h="1350542" w="595242">
                  <a:moveTo>
                    <a:pt x="87512" y="0"/>
                  </a:moveTo>
                  <a:lnTo>
                    <a:pt x="507730" y="0"/>
                  </a:lnTo>
                  <a:cubicBezTo>
                    <a:pt x="530939" y="0"/>
                    <a:pt x="553199" y="9220"/>
                    <a:pt x="569610" y="25632"/>
                  </a:cubicBezTo>
                  <a:cubicBezTo>
                    <a:pt x="586022" y="42043"/>
                    <a:pt x="595242" y="64303"/>
                    <a:pt x="595242" y="87512"/>
                  </a:cubicBezTo>
                  <a:lnTo>
                    <a:pt x="595242" y="1263030"/>
                  </a:lnTo>
                  <a:cubicBezTo>
                    <a:pt x="595242" y="1286240"/>
                    <a:pt x="586022" y="1308499"/>
                    <a:pt x="569610" y="1324911"/>
                  </a:cubicBezTo>
                  <a:cubicBezTo>
                    <a:pt x="553199" y="1341322"/>
                    <a:pt x="530939" y="1350542"/>
                    <a:pt x="507730" y="1350542"/>
                  </a:cubicBezTo>
                  <a:lnTo>
                    <a:pt x="87512" y="1350542"/>
                  </a:lnTo>
                  <a:cubicBezTo>
                    <a:pt x="39181" y="1350542"/>
                    <a:pt x="0" y="1311362"/>
                    <a:pt x="0" y="1263030"/>
                  </a:cubicBezTo>
                  <a:lnTo>
                    <a:pt x="0" y="87512"/>
                  </a:lnTo>
                  <a:cubicBezTo>
                    <a:pt x="0" y="64303"/>
                    <a:pt x="9220" y="42043"/>
                    <a:pt x="25632" y="25632"/>
                  </a:cubicBezTo>
                  <a:cubicBezTo>
                    <a:pt x="42043" y="9220"/>
                    <a:pt x="64303" y="0"/>
                    <a:pt x="87512" y="0"/>
                  </a:cubicBezTo>
                  <a:close/>
                </a:path>
              </a:pathLst>
            </a:custGeom>
            <a:blipFill>
              <a:blip r:embed="rId5"/>
              <a:stretch>
                <a:fillRect l="-25582" t="0" r="-25582" b="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918443" y="7820587"/>
            <a:ext cx="3105629" cy="1104677"/>
            <a:chOff x="0" y="0"/>
            <a:chExt cx="1145666" cy="4074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5666" cy="407416"/>
            </a:xfrm>
            <a:custGeom>
              <a:avLst/>
              <a:gdLst/>
              <a:ahLst/>
              <a:cxnLst/>
              <a:rect r="r" b="b" t="t" l="l"/>
              <a:pathLst>
                <a:path h="407416" w="1145666">
                  <a:moveTo>
                    <a:pt x="1145666" y="39886"/>
                  </a:moveTo>
                  <a:lnTo>
                    <a:pt x="1145666" y="367530"/>
                  </a:lnTo>
                  <a:cubicBezTo>
                    <a:pt x="1145666" y="389559"/>
                    <a:pt x="1127809" y="407416"/>
                    <a:pt x="1105780" y="407416"/>
                  </a:cubicBezTo>
                  <a:lnTo>
                    <a:pt x="39886" y="407416"/>
                  </a:lnTo>
                  <a:cubicBezTo>
                    <a:pt x="17858" y="407416"/>
                    <a:pt x="0" y="389559"/>
                    <a:pt x="0" y="367530"/>
                  </a:cubicBezTo>
                  <a:lnTo>
                    <a:pt x="0" y="39886"/>
                  </a:lnTo>
                  <a:cubicBezTo>
                    <a:pt x="0" y="17858"/>
                    <a:pt x="17858" y="0"/>
                    <a:pt x="39886" y="0"/>
                  </a:cubicBezTo>
                  <a:lnTo>
                    <a:pt x="1105780" y="0"/>
                  </a:lnTo>
                  <a:cubicBezTo>
                    <a:pt x="1127809" y="0"/>
                    <a:pt x="1145666" y="17858"/>
                    <a:pt x="1145666" y="3988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45666" cy="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03272" y="7967949"/>
            <a:ext cx="267799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baseline classifier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17766" y="7967949"/>
            <a:ext cx="267799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Vision Transformer model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32261" y="7967949"/>
            <a:ext cx="2677994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Explainable AI heatmaps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63612" y="1009650"/>
            <a:ext cx="4137618" cy="256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THE AIM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63612" y="3928547"/>
            <a:ext cx="3903586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MediVision AI classifies brain MRI images into four classes using a CNN baseline and a Vision Transformer. Explainable AI shows which image regions influenced each prediction. It is an academic prototype with a web interface, not a clinical diagnostic tool.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52129" y="1312835"/>
            <a:ext cx="3703217" cy="3830665"/>
            <a:chOff x="0" y="0"/>
            <a:chExt cx="607727" cy="6286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7727" cy="628642"/>
            </a:xfrm>
            <a:custGeom>
              <a:avLst/>
              <a:gdLst/>
              <a:ahLst/>
              <a:cxnLst/>
              <a:rect r="r" b="b" t="t" l="l"/>
              <a:pathLst>
                <a:path h="628642" w="607727">
                  <a:moveTo>
                    <a:pt x="85714" y="0"/>
                  </a:moveTo>
                  <a:lnTo>
                    <a:pt x="522013" y="0"/>
                  </a:lnTo>
                  <a:cubicBezTo>
                    <a:pt x="544746" y="0"/>
                    <a:pt x="566547" y="9031"/>
                    <a:pt x="582622" y="25105"/>
                  </a:cubicBezTo>
                  <a:cubicBezTo>
                    <a:pt x="598696" y="41180"/>
                    <a:pt x="607727" y="62981"/>
                    <a:pt x="607727" y="85714"/>
                  </a:cubicBezTo>
                  <a:lnTo>
                    <a:pt x="607727" y="542928"/>
                  </a:lnTo>
                  <a:cubicBezTo>
                    <a:pt x="607727" y="590267"/>
                    <a:pt x="569351" y="628642"/>
                    <a:pt x="522013" y="628642"/>
                  </a:cubicBezTo>
                  <a:lnTo>
                    <a:pt x="85714" y="628642"/>
                  </a:lnTo>
                  <a:cubicBezTo>
                    <a:pt x="62981" y="628642"/>
                    <a:pt x="41180" y="619612"/>
                    <a:pt x="25105" y="603537"/>
                  </a:cubicBezTo>
                  <a:cubicBezTo>
                    <a:pt x="9031" y="587463"/>
                    <a:pt x="0" y="565661"/>
                    <a:pt x="0" y="542928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close/>
                </a:path>
              </a:pathLst>
            </a:custGeom>
            <a:blipFill>
              <a:blip r:embed="rId3"/>
              <a:stretch>
                <a:fillRect l="-55162" t="0" r="0" b="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314490" y="1312835"/>
            <a:ext cx="3703217" cy="3710399"/>
            <a:chOff x="0" y="0"/>
            <a:chExt cx="1245010" cy="12471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14490" y="5263766"/>
            <a:ext cx="3703217" cy="3710399"/>
            <a:chOff x="0" y="0"/>
            <a:chExt cx="1245010" cy="12471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252129" y="5263766"/>
            <a:ext cx="3703217" cy="3710399"/>
            <a:chOff x="0" y="0"/>
            <a:chExt cx="1245010" cy="12471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96853" y="2308562"/>
            <a:ext cx="29384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Complex MRI patterns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6853" y="6181449"/>
            <a:ext cx="29384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Need for model comparison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34493" y="6181449"/>
            <a:ext cx="29384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 visual explanation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8847" y="1293785"/>
            <a:ext cx="6265293" cy="3366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PROBLEM STATEMENT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8847" y="6585295"/>
            <a:ext cx="5844213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Brain MRI contains complex visual patterns, and manual image-level analysis is slow and needs domain expertise. A class label alone does not show what influenced it. MediVision AI compares two model families and adds visual explanations.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28847" y="3817703"/>
            <a:ext cx="5052098" cy="5440597"/>
            <a:chOff x="0" y="0"/>
            <a:chExt cx="1698500" cy="18286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98500" cy="1828666"/>
            </a:xfrm>
            <a:custGeom>
              <a:avLst/>
              <a:gdLst/>
              <a:ahLst/>
              <a:cxnLst/>
              <a:rect r="r" b="b" t="t" l="l"/>
              <a:pathLst>
                <a:path h="1828666" w="1698500">
                  <a:moveTo>
                    <a:pt x="1698500" y="62829"/>
                  </a:moveTo>
                  <a:lnTo>
                    <a:pt x="1698500" y="1765837"/>
                  </a:lnTo>
                  <a:cubicBezTo>
                    <a:pt x="1698500" y="1782500"/>
                    <a:pt x="1691880" y="1798481"/>
                    <a:pt x="1680098" y="1810264"/>
                  </a:cubicBezTo>
                  <a:cubicBezTo>
                    <a:pt x="1668315" y="1822047"/>
                    <a:pt x="1652334" y="1828666"/>
                    <a:pt x="1635671" y="1828666"/>
                  </a:cubicBezTo>
                  <a:lnTo>
                    <a:pt x="62829" y="1828666"/>
                  </a:lnTo>
                  <a:cubicBezTo>
                    <a:pt x="28130" y="1828666"/>
                    <a:pt x="0" y="1800537"/>
                    <a:pt x="0" y="1765837"/>
                  </a:cubicBezTo>
                  <a:lnTo>
                    <a:pt x="0" y="62829"/>
                  </a:lnTo>
                  <a:cubicBezTo>
                    <a:pt x="0" y="28130"/>
                    <a:pt x="28130" y="0"/>
                    <a:pt x="62829" y="0"/>
                  </a:cubicBezTo>
                  <a:lnTo>
                    <a:pt x="1635671" y="0"/>
                  </a:lnTo>
                  <a:cubicBezTo>
                    <a:pt x="1670371" y="0"/>
                    <a:pt x="1698500" y="28130"/>
                    <a:pt x="1698500" y="6282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698500" cy="188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3312" y="6538002"/>
            <a:ext cx="4523168" cy="2499531"/>
            <a:chOff x="0" y="0"/>
            <a:chExt cx="742288" cy="4101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2288" cy="410193"/>
            </a:xfrm>
            <a:custGeom>
              <a:avLst/>
              <a:gdLst/>
              <a:ahLst/>
              <a:cxnLst/>
              <a:rect r="r" b="b" t="t" l="l"/>
              <a:pathLst>
                <a:path h="410193" w="742288">
                  <a:moveTo>
                    <a:pt x="70176" y="0"/>
                  </a:moveTo>
                  <a:lnTo>
                    <a:pt x="672111" y="0"/>
                  </a:lnTo>
                  <a:cubicBezTo>
                    <a:pt x="710869" y="0"/>
                    <a:pt x="742288" y="31419"/>
                    <a:pt x="742288" y="70176"/>
                  </a:cubicBezTo>
                  <a:lnTo>
                    <a:pt x="742288" y="340017"/>
                  </a:lnTo>
                  <a:cubicBezTo>
                    <a:pt x="742288" y="378774"/>
                    <a:pt x="710869" y="410193"/>
                    <a:pt x="672111" y="410193"/>
                  </a:cubicBezTo>
                  <a:lnTo>
                    <a:pt x="70176" y="410193"/>
                  </a:lnTo>
                  <a:cubicBezTo>
                    <a:pt x="51564" y="410193"/>
                    <a:pt x="33715" y="402799"/>
                    <a:pt x="20554" y="389639"/>
                  </a:cubicBezTo>
                  <a:cubicBezTo>
                    <a:pt x="7394" y="376478"/>
                    <a:pt x="0" y="358628"/>
                    <a:pt x="0" y="340017"/>
                  </a:cubicBezTo>
                  <a:lnTo>
                    <a:pt x="0" y="70176"/>
                  </a:lnTo>
                  <a:cubicBezTo>
                    <a:pt x="0" y="51564"/>
                    <a:pt x="7394" y="33715"/>
                    <a:pt x="20554" y="20554"/>
                  </a:cubicBezTo>
                  <a:cubicBezTo>
                    <a:pt x="33715" y="7394"/>
                    <a:pt x="51564" y="0"/>
                    <a:pt x="7017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282" r="0" b="-10282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6533418" y="3817703"/>
            <a:ext cx="5052098" cy="5440597"/>
            <a:chOff x="0" y="0"/>
            <a:chExt cx="1698500" cy="18286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8500" cy="1828666"/>
            </a:xfrm>
            <a:custGeom>
              <a:avLst/>
              <a:gdLst/>
              <a:ahLst/>
              <a:cxnLst/>
              <a:rect r="r" b="b" t="t" l="l"/>
              <a:pathLst>
                <a:path h="1828666" w="1698500">
                  <a:moveTo>
                    <a:pt x="1698500" y="62829"/>
                  </a:moveTo>
                  <a:lnTo>
                    <a:pt x="1698500" y="1765837"/>
                  </a:lnTo>
                  <a:cubicBezTo>
                    <a:pt x="1698500" y="1782500"/>
                    <a:pt x="1691880" y="1798481"/>
                    <a:pt x="1680098" y="1810264"/>
                  </a:cubicBezTo>
                  <a:cubicBezTo>
                    <a:pt x="1668315" y="1822047"/>
                    <a:pt x="1652334" y="1828666"/>
                    <a:pt x="1635671" y="1828666"/>
                  </a:cubicBezTo>
                  <a:lnTo>
                    <a:pt x="62829" y="1828666"/>
                  </a:lnTo>
                  <a:cubicBezTo>
                    <a:pt x="28130" y="1828666"/>
                    <a:pt x="0" y="1800537"/>
                    <a:pt x="0" y="1765837"/>
                  </a:cubicBezTo>
                  <a:lnTo>
                    <a:pt x="0" y="62829"/>
                  </a:lnTo>
                  <a:cubicBezTo>
                    <a:pt x="0" y="28130"/>
                    <a:pt x="28130" y="0"/>
                    <a:pt x="62829" y="0"/>
                  </a:cubicBezTo>
                  <a:lnTo>
                    <a:pt x="1635671" y="0"/>
                  </a:lnTo>
                  <a:cubicBezTo>
                    <a:pt x="1670371" y="0"/>
                    <a:pt x="1698500" y="28130"/>
                    <a:pt x="1698500" y="6282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98500" cy="188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7882" y="4038471"/>
            <a:ext cx="4523168" cy="2499531"/>
            <a:chOff x="0" y="0"/>
            <a:chExt cx="742288" cy="410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288" cy="410193"/>
            </a:xfrm>
            <a:custGeom>
              <a:avLst/>
              <a:gdLst/>
              <a:ahLst/>
              <a:cxnLst/>
              <a:rect r="r" b="b" t="t" l="l"/>
              <a:pathLst>
                <a:path h="410193" w="742288">
                  <a:moveTo>
                    <a:pt x="70176" y="0"/>
                  </a:moveTo>
                  <a:lnTo>
                    <a:pt x="672111" y="0"/>
                  </a:lnTo>
                  <a:cubicBezTo>
                    <a:pt x="710869" y="0"/>
                    <a:pt x="742288" y="31419"/>
                    <a:pt x="742288" y="70176"/>
                  </a:cubicBezTo>
                  <a:lnTo>
                    <a:pt x="742288" y="340017"/>
                  </a:lnTo>
                  <a:cubicBezTo>
                    <a:pt x="742288" y="378774"/>
                    <a:pt x="710869" y="410193"/>
                    <a:pt x="672111" y="410193"/>
                  </a:cubicBezTo>
                  <a:lnTo>
                    <a:pt x="70176" y="410193"/>
                  </a:lnTo>
                  <a:cubicBezTo>
                    <a:pt x="51564" y="410193"/>
                    <a:pt x="33715" y="402799"/>
                    <a:pt x="20554" y="389639"/>
                  </a:cubicBezTo>
                  <a:cubicBezTo>
                    <a:pt x="7394" y="376478"/>
                    <a:pt x="0" y="358628"/>
                    <a:pt x="0" y="340017"/>
                  </a:cubicBezTo>
                  <a:lnTo>
                    <a:pt x="0" y="70176"/>
                  </a:lnTo>
                  <a:cubicBezTo>
                    <a:pt x="0" y="51564"/>
                    <a:pt x="7394" y="33715"/>
                    <a:pt x="20554" y="20554"/>
                  </a:cubicBezTo>
                  <a:cubicBezTo>
                    <a:pt x="33715" y="7394"/>
                    <a:pt x="51564" y="0"/>
                    <a:pt x="7017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63100" r="0" b="-6310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37037" y="3817703"/>
            <a:ext cx="5052098" cy="5440597"/>
            <a:chOff x="0" y="0"/>
            <a:chExt cx="1698500" cy="18286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8500" cy="1828666"/>
            </a:xfrm>
            <a:custGeom>
              <a:avLst/>
              <a:gdLst/>
              <a:ahLst/>
              <a:cxnLst/>
              <a:rect r="r" b="b" t="t" l="l"/>
              <a:pathLst>
                <a:path h="1828666" w="1698500">
                  <a:moveTo>
                    <a:pt x="1698500" y="62829"/>
                  </a:moveTo>
                  <a:lnTo>
                    <a:pt x="1698500" y="1765837"/>
                  </a:lnTo>
                  <a:cubicBezTo>
                    <a:pt x="1698500" y="1782500"/>
                    <a:pt x="1691880" y="1798481"/>
                    <a:pt x="1680098" y="1810264"/>
                  </a:cubicBezTo>
                  <a:cubicBezTo>
                    <a:pt x="1668315" y="1822047"/>
                    <a:pt x="1652334" y="1828666"/>
                    <a:pt x="1635671" y="1828666"/>
                  </a:cubicBezTo>
                  <a:lnTo>
                    <a:pt x="62829" y="1828666"/>
                  </a:lnTo>
                  <a:cubicBezTo>
                    <a:pt x="28130" y="1828666"/>
                    <a:pt x="0" y="1800537"/>
                    <a:pt x="0" y="1765837"/>
                  </a:cubicBezTo>
                  <a:lnTo>
                    <a:pt x="0" y="62829"/>
                  </a:lnTo>
                  <a:cubicBezTo>
                    <a:pt x="0" y="28130"/>
                    <a:pt x="28130" y="0"/>
                    <a:pt x="62829" y="0"/>
                  </a:cubicBezTo>
                  <a:lnTo>
                    <a:pt x="1635671" y="0"/>
                  </a:lnTo>
                  <a:cubicBezTo>
                    <a:pt x="1670371" y="0"/>
                    <a:pt x="1698500" y="28130"/>
                    <a:pt x="1698500" y="6282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98500" cy="18858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01501" y="6538002"/>
            <a:ext cx="4523168" cy="2499531"/>
            <a:chOff x="0" y="0"/>
            <a:chExt cx="742288" cy="4101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2288" cy="410193"/>
            </a:xfrm>
            <a:custGeom>
              <a:avLst/>
              <a:gdLst/>
              <a:ahLst/>
              <a:cxnLst/>
              <a:rect r="r" b="b" t="t" l="l"/>
              <a:pathLst>
                <a:path h="410193" w="742288">
                  <a:moveTo>
                    <a:pt x="70176" y="0"/>
                  </a:moveTo>
                  <a:lnTo>
                    <a:pt x="672111" y="0"/>
                  </a:lnTo>
                  <a:cubicBezTo>
                    <a:pt x="710869" y="0"/>
                    <a:pt x="742288" y="31419"/>
                    <a:pt x="742288" y="70176"/>
                  </a:cubicBezTo>
                  <a:lnTo>
                    <a:pt x="742288" y="340017"/>
                  </a:lnTo>
                  <a:cubicBezTo>
                    <a:pt x="742288" y="378774"/>
                    <a:pt x="710869" y="410193"/>
                    <a:pt x="672111" y="410193"/>
                  </a:cubicBezTo>
                  <a:lnTo>
                    <a:pt x="70176" y="410193"/>
                  </a:lnTo>
                  <a:cubicBezTo>
                    <a:pt x="51564" y="410193"/>
                    <a:pt x="33715" y="402799"/>
                    <a:pt x="20554" y="389639"/>
                  </a:cubicBezTo>
                  <a:cubicBezTo>
                    <a:pt x="7394" y="376478"/>
                    <a:pt x="0" y="358628"/>
                    <a:pt x="0" y="340017"/>
                  </a:cubicBezTo>
                  <a:lnTo>
                    <a:pt x="0" y="70176"/>
                  </a:lnTo>
                  <a:cubicBezTo>
                    <a:pt x="0" y="51564"/>
                    <a:pt x="7394" y="33715"/>
                    <a:pt x="20554" y="20554"/>
                  </a:cubicBezTo>
                  <a:cubicBezTo>
                    <a:pt x="33715" y="7394"/>
                    <a:pt x="51564" y="0"/>
                    <a:pt x="7017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0282" r="0" b="-10282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8847" y="1073015"/>
            <a:ext cx="7830619" cy="176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DATASET &amp; CLASSES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88003" y="4212590"/>
            <a:ext cx="3933786" cy="180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7,200 MRI images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73363" y="4212590"/>
            <a:ext cx="3179445" cy="180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400 held-out test images per class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6343" y="1255685"/>
            <a:ext cx="7172791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Four classes (glioma, meningioma, pituitary, no tumor) with labeled Training and Testing folders. Images are converted to grayscale, resized to 128×128 and normalized. A stratified 85/15 train/validation split keeps the Testing set held out.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2573" y="7161657"/>
            <a:ext cx="3933786" cy="11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 tumor classes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8847" y="1293785"/>
            <a:ext cx="6265293" cy="256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SYSTEM WORKFLOW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144000" y="1312835"/>
            <a:ext cx="8103466" cy="1272972"/>
            <a:chOff x="0" y="0"/>
            <a:chExt cx="2724361" cy="4278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24361" cy="427865"/>
            </a:xfrm>
            <a:custGeom>
              <a:avLst/>
              <a:gdLst/>
              <a:ahLst/>
              <a:cxnLst/>
              <a:rect r="r" b="b" t="t" l="l"/>
              <a:pathLst>
                <a:path h="427865" w="2724361">
                  <a:moveTo>
                    <a:pt x="2724361" y="39171"/>
                  </a:moveTo>
                  <a:lnTo>
                    <a:pt x="2724361" y="388694"/>
                  </a:lnTo>
                  <a:cubicBezTo>
                    <a:pt x="2724361" y="410328"/>
                    <a:pt x="2706824" y="427865"/>
                    <a:pt x="2685190" y="427865"/>
                  </a:cubicBezTo>
                  <a:lnTo>
                    <a:pt x="39171" y="427865"/>
                  </a:lnTo>
                  <a:cubicBezTo>
                    <a:pt x="28782" y="427865"/>
                    <a:pt x="18819" y="423738"/>
                    <a:pt x="11473" y="416392"/>
                  </a:cubicBezTo>
                  <a:cubicBezTo>
                    <a:pt x="4127" y="409046"/>
                    <a:pt x="0" y="399083"/>
                    <a:pt x="0" y="388694"/>
                  </a:cubicBezTo>
                  <a:lnTo>
                    <a:pt x="0" y="39171"/>
                  </a:lnTo>
                  <a:cubicBezTo>
                    <a:pt x="0" y="28782"/>
                    <a:pt x="4127" y="18819"/>
                    <a:pt x="11473" y="11473"/>
                  </a:cubicBezTo>
                  <a:cubicBezTo>
                    <a:pt x="18819" y="4127"/>
                    <a:pt x="28782" y="0"/>
                    <a:pt x="39171" y="0"/>
                  </a:cubicBezTo>
                  <a:lnTo>
                    <a:pt x="2685190" y="0"/>
                  </a:lnTo>
                  <a:cubicBezTo>
                    <a:pt x="2695579" y="0"/>
                    <a:pt x="2705542" y="4127"/>
                    <a:pt x="2712888" y="11473"/>
                  </a:cubicBezTo>
                  <a:cubicBezTo>
                    <a:pt x="2720234" y="18819"/>
                    <a:pt x="2724361" y="28782"/>
                    <a:pt x="2724361" y="391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724361" cy="485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0" y="1651823"/>
            <a:ext cx="810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Upload MRI image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0" y="3069492"/>
            <a:ext cx="8103466" cy="1272972"/>
            <a:chOff x="0" y="0"/>
            <a:chExt cx="2724361" cy="4278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24361" cy="427865"/>
            </a:xfrm>
            <a:custGeom>
              <a:avLst/>
              <a:gdLst/>
              <a:ahLst/>
              <a:cxnLst/>
              <a:rect r="r" b="b" t="t" l="l"/>
              <a:pathLst>
                <a:path h="427865" w="2724361">
                  <a:moveTo>
                    <a:pt x="2724361" y="39171"/>
                  </a:moveTo>
                  <a:lnTo>
                    <a:pt x="2724361" y="388694"/>
                  </a:lnTo>
                  <a:cubicBezTo>
                    <a:pt x="2724361" y="410328"/>
                    <a:pt x="2706824" y="427865"/>
                    <a:pt x="2685190" y="427865"/>
                  </a:cubicBezTo>
                  <a:lnTo>
                    <a:pt x="39171" y="427865"/>
                  </a:lnTo>
                  <a:cubicBezTo>
                    <a:pt x="28782" y="427865"/>
                    <a:pt x="18819" y="423738"/>
                    <a:pt x="11473" y="416392"/>
                  </a:cubicBezTo>
                  <a:cubicBezTo>
                    <a:pt x="4127" y="409046"/>
                    <a:pt x="0" y="399083"/>
                    <a:pt x="0" y="388694"/>
                  </a:cubicBezTo>
                  <a:lnTo>
                    <a:pt x="0" y="39171"/>
                  </a:lnTo>
                  <a:cubicBezTo>
                    <a:pt x="0" y="28782"/>
                    <a:pt x="4127" y="18819"/>
                    <a:pt x="11473" y="11473"/>
                  </a:cubicBezTo>
                  <a:cubicBezTo>
                    <a:pt x="18819" y="4127"/>
                    <a:pt x="28782" y="0"/>
                    <a:pt x="39171" y="0"/>
                  </a:cubicBezTo>
                  <a:lnTo>
                    <a:pt x="2685190" y="0"/>
                  </a:lnTo>
                  <a:cubicBezTo>
                    <a:pt x="2695579" y="0"/>
                    <a:pt x="2705542" y="4127"/>
                    <a:pt x="2712888" y="11473"/>
                  </a:cubicBezTo>
                  <a:cubicBezTo>
                    <a:pt x="2720234" y="18819"/>
                    <a:pt x="2724361" y="28782"/>
                    <a:pt x="2724361" y="391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724361" cy="485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0" y="3408481"/>
            <a:ext cx="810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Grayscale, resize, normalize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4826150"/>
            <a:ext cx="8103466" cy="1272972"/>
            <a:chOff x="0" y="0"/>
            <a:chExt cx="2724361" cy="427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24361" cy="427865"/>
            </a:xfrm>
            <a:custGeom>
              <a:avLst/>
              <a:gdLst/>
              <a:ahLst/>
              <a:cxnLst/>
              <a:rect r="r" b="b" t="t" l="l"/>
              <a:pathLst>
                <a:path h="427865" w="2724361">
                  <a:moveTo>
                    <a:pt x="2724361" y="39171"/>
                  </a:moveTo>
                  <a:lnTo>
                    <a:pt x="2724361" y="388694"/>
                  </a:lnTo>
                  <a:cubicBezTo>
                    <a:pt x="2724361" y="410328"/>
                    <a:pt x="2706824" y="427865"/>
                    <a:pt x="2685190" y="427865"/>
                  </a:cubicBezTo>
                  <a:lnTo>
                    <a:pt x="39171" y="427865"/>
                  </a:lnTo>
                  <a:cubicBezTo>
                    <a:pt x="28782" y="427865"/>
                    <a:pt x="18819" y="423738"/>
                    <a:pt x="11473" y="416392"/>
                  </a:cubicBezTo>
                  <a:cubicBezTo>
                    <a:pt x="4127" y="409046"/>
                    <a:pt x="0" y="399083"/>
                    <a:pt x="0" y="388694"/>
                  </a:cubicBezTo>
                  <a:lnTo>
                    <a:pt x="0" y="39171"/>
                  </a:lnTo>
                  <a:cubicBezTo>
                    <a:pt x="0" y="28782"/>
                    <a:pt x="4127" y="18819"/>
                    <a:pt x="11473" y="11473"/>
                  </a:cubicBezTo>
                  <a:cubicBezTo>
                    <a:pt x="18819" y="4127"/>
                    <a:pt x="28782" y="0"/>
                    <a:pt x="39171" y="0"/>
                  </a:cubicBezTo>
                  <a:lnTo>
                    <a:pt x="2685190" y="0"/>
                  </a:lnTo>
                  <a:cubicBezTo>
                    <a:pt x="2695579" y="0"/>
                    <a:pt x="2705542" y="4127"/>
                    <a:pt x="2712888" y="11473"/>
                  </a:cubicBezTo>
                  <a:cubicBezTo>
                    <a:pt x="2720234" y="18819"/>
                    <a:pt x="2724361" y="28782"/>
                    <a:pt x="2724361" y="391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724361" cy="485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44000" y="5165139"/>
            <a:ext cx="810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Classify with CNN or ViT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0" y="6582808"/>
            <a:ext cx="8103466" cy="1272972"/>
            <a:chOff x="0" y="0"/>
            <a:chExt cx="2724361" cy="4278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24361" cy="427865"/>
            </a:xfrm>
            <a:custGeom>
              <a:avLst/>
              <a:gdLst/>
              <a:ahLst/>
              <a:cxnLst/>
              <a:rect r="r" b="b" t="t" l="l"/>
              <a:pathLst>
                <a:path h="427865" w="2724361">
                  <a:moveTo>
                    <a:pt x="2724361" y="39171"/>
                  </a:moveTo>
                  <a:lnTo>
                    <a:pt x="2724361" y="388694"/>
                  </a:lnTo>
                  <a:cubicBezTo>
                    <a:pt x="2724361" y="410328"/>
                    <a:pt x="2706824" y="427865"/>
                    <a:pt x="2685190" y="427865"/>
                  </a:cubicBezTo>
                  <a:lnTo>
                    <a:pt x="39171" y="427865"/>
                  </a:lnTo>
                  <a:cubicBezTo>
                    <a:pt x="28782" y="427865"/>
                    <a:pt x="18819" y="423738"/>
                    <a:pt x="11473" y="416392"/>
                  </a:cubicBezTo>
                  <a:cubicBezTo>
                    <a:pt x="4127" y="409046"/>
                    <a:pt x="0" y="399083"/>
                    <a:pt x="0" y="388694"/>
                  </a:cubicBezTo>
                  <a:lnTo>
                    <a:pt x="0" y="39171"/>
                  </a:lnTo>
                  <a:cubicBezTo>
                    <a:pt x="0" y="28782"/>
                    <a:pt x="4127" y="18819"/>
                    <a:pt x="11473" y="11473"/>
                  </a:cubicBezTo>
                  <a:cubicBezTo>
                    <a:pt x="18819" y="4127"/>
                    <a:pt x="28782" y="0"/>
                    <a:pt x="39171" y="0"/>
                  </a:cubicBezTo>
                  <a:lnTo>
                    <a:pt x="2685190" y="0"/>
                  </a:lnTo>
                  <a:cubicBezTo>
                    <a:pt x="2695579" y="0"/>
                    <a:pt x="2705542" y="4127"/>
                    <a:pt x="2712888" y="11473"/>
                  </a:cubicBezTo>
                  <a:cubicBezTo>
                    <a:pt x="2720234" y="18819"/>
                    <a:pt x="2724361" y="28782"/>
                    <a:pt x="2724361" y="39171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724361" cy="485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0" y="6921796"/>
            <a:ext cx="810346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Prediction + explanation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8847" y="6869430"/>
            <a:ext cx="5844213" cy="238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user uploads one MRI image. It is preprocessed, classified by the selected model and explained with a heatmap. Uploaded images are processed in memory and are not saved.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83846" y="3966885"/>
            <a:ext cx="3536460" cy="3397256"/>
            <a:chOff x="0" y="0"/>
            <a:chExt cx="656981" cy="6311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6981" cy="631121"/>
            </a:xfrm>
            <a:custGeom>
              <a:avLst/>
              <a:gdLst/>
              <a:ahLst/>
              <a:cxnLst/>
              <a:rect r="r" b="b" t="t" l="l"/>
              <a:pathLst>
                <a:path h="631121" w="656981">
                  <a:moveTo>
                    <a:pt x="89756" y="0"/>
                  </a:moveTo>
                  <a:lnTo>
                    <a:pt x="567225" y="0"/>
                  </a:lnTo>
                  <a:cubicBezTo>
                    <a:pt x="616796" y="0"/>
                    <a:pt x="656981" y="40185"/>
                    <a:pt x="656981" y="89756"/>
                  </a:cubicBezTo>
                  <a:lnTo>
                    <a:pt x="656981" y="541364"/>
                  </a:lnTo>
                  <a:cubicBezTo>
                    <a:pt x="656981" y="590935"/>
                    <a:pt x="616796" y="631121"/>
                    <a:pt x="567225" y="631121"/>
                  </a:cubicBezTo>
                  <a:lnTo>
                    <a:pt x="89756" y="631121"/>
                  </a:lnTo>
                  <a:cubicBezTo>
                    <a:pt x="40185" y="631121"/>
                    <a:pt x="0" y="590935"/>
                    <a:pt x="0" y="541364"/>
                  </a:cubicBezTo>
                  <a:lnTo>
                    <a:pt x="0" y="89756"/>
                  </a:lnTo>
                  <a:cubicBezTo>
                    <a:pt x="0" y="40185"/>
                    <a:pt x="40185" y="0"/>
                    <a:pt x="8975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48" r="0" b="-2048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83846" y="7571998"/>
            <a:ext cx="3536460" cy="1265694"/>
            <a:chOff x="0" y="0"/>
            <a:chExt cx="1476835" cy="5284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76835" cy="528428"/>
            </a:xfrm>
            <a:custGeom>
              <a:avLst/>
              <a:gdLst/>
              <a:ahLst/>
              <a:cxnLst/>
              <a:rect r="r" b="b" t="t" l="l"/>
              <a:pathLst>
                <a:path h="528428" w="1476835">
                  <a:moveTo>
                    <a:pt x="1476835" y="35027"/>
                  </a:moveTo>
                  <a:lnTo>
                    <a:pt x="1476835" y="493401"/>
                  </a:lnTo>
                  <a:cubicBezTo>
                    <a:pt x="1476835" y="502691"/>
                    <a:pt x="1473144" y="511600"/>
                    <a:pt x="1466576" y="518169"/>
                  </a:cubicBezTo>
                  <a:cubicBezTo>
                    <a:pt x="1460007" y="524738"/>
                    <a:pt x="1451098" y="528428"/>
                    <a:pt x="1441808" y="528428"/>
                  </a:cubicBezTo>
                  <a:lnTo>
                    <a:pt x="35027" y="528428"/>
                  </a:lnTo>
                  <a:cubicBezTo>
                    <a:pt x="25737" y="528428"/>
                    <a:pt x="16828" y="524738"/>
                    <a:pt x="10259" y="518169"/>
                  </a:cubicBezTo>
                  <a:cubicBezTo>
                    <a:pt x="3690" y="511600"/>
                    <a:pt x="0" y="502691"/>
                    <a:pt x="0" y="493401"/>
                  </a:cubicBezTo>
                  <a:lnTo>
                    <a:pt x="0" y="35027"/>
                  </a:lnTo>
                  <a:cubicBezTo>
                    <a:pt x="0" y="25737"/>
                    <a:pt x="3690" y="16828"/>
                    <a:pt x="10259" y="10259"/>
                  </a:cubicBezTo>
                  <a:cubicBezTo>
                    <a:pt x="16828" y="3690"/>
                    <a:pt x="25737" y="0"/>
                    <a:pt x="35027" y="0"/>
                  </a:cubicBezTo>
                  <a:lnTo>
                    <a:pt x="1441808" y="0"/>
                  </a:lnTo>
                  <a:cubicBezTo>
                    <a:pt x="1451098" y="0"/>
                    <a:pt x="1460007" y="3690"/>
                    <a:pt x="1466576" y="10259"/>
                  </a:cubicBezTo>
                  <a:cubicBezTo>
                    <a:pt x="1473144" y="16828"/>
                    <a:pt x="1476835" y="25737"/>
                    <a:pt x="1476835" y="3502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76835" cy="56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45129" y="3966885"/>
            <a:ext cx="3536460" cy="3397256"/>
            <a:chOff x="0" y="0"/>
            <a:chExt cx="656981" cy="6311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56981" cy="631121"/>
            </a:xfrm>
            <a:custGeom>
              <a:avLst/>
              <a:gdLst/>
              <a:ahLst/>
              <a:cxnLst/>
              <a:rect r="r" b="b" t="t" l="l"/>
              <a:pathLst>
                <a:path h="631121" w="656981">
                  <a:moveTo>
                    <a:pt x="89756" y="0"/>
                  </a:moveTo>
                  <a:lnTo>
                    <a:pt x="567225" y="0"/>
                  </a:lnTo>
                  <a:cubicBezTo>
                    <a:pt x="616796" y="0"/>
                    <a:pt x="656981" y="40185"/>
                    <a:pt x="656981" y="89756"/>
                  </a:cubicBezTo>
                  <a:lnTo>
                    <a:pt x="656981" y="541364"/>
                  </a:lnTo>
                  <a:cubicBezTo>
                    <a:pt x="656981" y="590935"/>
                    <a:pt x="616796" y="631121"/>
                    <a:pt x="567225" y="631121"/>
                  </a:cubicBezTo>
                  <a:lnTo>
                    <a:pt x="89756" y="631121"/>
                  </a:lnTo>
                  <a:cubicBezTo>
                    <a:pt x="40185" y="631121"/>
                    <a:pt x="0" y="590935"/>
                    <a:pt x="0" y="541364"/>
                  </a:cubicBezTo>
                  <a:lnTo>
                    <a:pt x="0" y="89756"/>
                  </a:lnTo>
                  <a:cubicBezTo>
                    <a:pt x="0" y="40185"/>
                    <a:pt x="40185" y="0"/>
                    <a:pt x="89756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5747" r="0" b="-50496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445129" y="7571998"/>
            <a:ext cx="3536460" cy="1265694"/>
            <a:chOff x="0" y="0"/>
            <a:chExt cx="1476835" cy="5284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76835" cy="528428"/>
            </a:xfrm>
            <a:custGeom>
              <a:avLst/>
              <a:gdLst/>
              <a:ahLst/>
              <a:cxnLst/>
              <a:rect r="r" b="b" t="t" l="l"/>
              <a:pathLst>
                <a:path h="528428" w="1476835">
                  <a:moveTo>
                    <a:pt x="1476835" y="35027"/>
                  </a:moveTo>
                  <a:lnTo>
                    <a:pt x="1476835" y="493401"/>
                  </a:lnTo>
                  <a:cubicBezTo>
                    <a:pt x="1476835" y="502691"/>
                    <a:pt x="1473144" y="511600"/>
                    <a:pt x="1466576" y="518169"/>
                  </a:cubicBezTo>
                  <a:cubicBezTo>
                    <a:pt x="1460007" y="524738"/>
                    <a:pt x="1451098" y="528428"/>
                    <a:pt x="1441808" y="528428"/>
                  </a:cubicBezTo>
                  <a:lnTo>
                    <a:pt x="35027" y="528428"/>
                  </a:lnTo>
                  <a:cubicBezTo>
                    <a:pt x="25737" y="528428"/>
                    <a:pt x="16828" y="524738"/>
                    <a:pt x="10259" y="518169"/>
                  </a:cubicBezTo>
                  <a:cubicBezTo>
                    <a:pt x="3690" y="511600"/>
                    <a:pt x="0" y="502691"/>
                    <a:pt x="0" y="493401"/>
                  </a:cubicBezTo>
                  <a:lnTo>
                    <a:pt x="0" y="35027"/>
                  </a:lnTo>
                  <a:cubicBezTo>
                    <a:pt x="0" y="25737"/>
                    <a:pt x="3690" y="16828"/>
                    <a:pt x="10259" y="10259"/>
                  </a:cubicBezTo>
                  <a:cubicBezTo>
                    <a:pt x="16828" y="3690"/>
                    <a:pt x="25737" y="0"/>
                    <a:pt x="35027" y="0"/>
                  </a:cubicBezTo>
                  <a:lnTo>
                    <a:pt x="1441808" y="0"/>
                  </a:lnTo>
                  <a:cubicBezTo>
                    <a:pt x="1451098" y="0"/>
                    <a:pt x="1460007" y="3690"/>
                    <a:pt x="1466576" y="10259"/>
                  </a:cubicBezTo>
                  <a:cubicBezTo>
                    <a:pt x="1473144" y="16828"/>
                    <a:pt x="1476835" y="25737"/>
                    <a:pt x="1476835" y="3502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76835" cy="56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06411" y="3966885"/>
            <a:ext cx="3536460" cy="3397256"/>
            <a:chOff x="0" y="0"/>
            <a:chExt cx="656981" cy="6311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6981" cy="631121"/>
            </a:xfrm>
            <a:custGeom>
              <a:avLst/>
              <a:gdLst/>
              <a:ahLst/>
              <a:cxnLst/>
              <a:rect r="r" b="b" t="t" l="l"/>
              <a:pathLst>
                <a:path h="631121" w="656981">
                  <a:moveTo>
                    <a:pt x="89756" y="0"/>
                  </a:moveTo>
                  <a:lnTo>
                    <a:pt x="567225" y="0"/>
                  </a:lnTo>
                  <a:cubicBezTo>
                    <a:pt x="616796" y="0"/>
                    <a:pt x="656981" y="40185"/>
                    <a:pt x="656981" y="89756"/>
                  </a:cubicBezTo>
                  <a:lnTo>
                    <a:pt x="656981" y="541364"/>
                  </a:lnTo>
                  <a:cubicBezTo>
                    <a:pt x="656981" y="590935"/>
                    <a:pt x="616796" y="631121"/>
                    <a:pt x="567225" y="631121"/>
                  </a:cubicBezTo>
                  <a:lnTo>
                    <a:pt x="89756" y="631121"/>
                  </a:lnTo>
                  <a:cubicBezTo>
                    <a:pt x="40185" y="631121"/>
                    <a:pt x="0" y="590935"/>
                    <a:pt x="0" y="541364"/>
                  </a:cubicBezTo>
                  <a:lnTo>
                    <a:pt x="0" y="89756"/>
                  </a:lnTo>
                  <a:cubicBezTo>
                    <a:pt x="0" y="40185"/>
                    <a:pt x="40185" y="0"/>
                    <a:pt x="8975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5060" r="0" b="-1506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06411" y="7571998"/>
            <a:ext cx="3536460" cy="1265694"/>
            <a:chOff x="0" y="0"/>
            <a:chExt cx="1476835" cy="5284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76835" cy="528428"/>
            </a:xfrm>
            <a:custGeom>
              <a:avLst/>
              <a:gdLst/>
              <a:ahLst/>
              <a:cxnLst/>
              <a:rect r="r" b="b" t="t" l="l"/>
              <a:pathLst>
                <a:path h="528428" w="1476835">
                  <a:moveTo>
                    <a:pt x="1476835" y="35027"/>
                  </a:moveTo>
                  <a:lnTo>
                    <a:pt x="1476835" y="493401"/>
                  </a:lnTo>
                  <a:cubicBezTo>
                    <a:pt x="1476835" y="502691"/>
                    <a:pt x="1473144" y="511600"/>
                    <a:pt x="1466576" y="518169"/>
                  </a:cubicBezTo>
                  <a:cubicBezTo>
                    <a:pt x="1460007" y="524738"/>
                    <a:pt x="1451098" y="528428"/>
                    <a:pt x="1441808" y="528428"/>
                  </a:cubicBezTo>
                  <a:lnTo>
                    <a:pt x="35027" y="528428"/>
                  </a:lnTo>
                  <a:cubicBezTo>
                    <a:pt x="25737" y="528428"/>
                    <a:pt x="16828" y="524738"/>
                    <a:pt x="10259" y="518169"/>
                  </a:cubicBezTo>
                  <a:cubicBezTo>
                    <a:pt x="3690" y="511600"/>
                    <a:pt x="0" y="502691"/>
                    <a:pt x="0" y="493401"/>
                  </a:cubicBezTo>
                  <a:lnTo>
                    <a:pt x="0" y="35027"/>
                  </a:lnTo>
                  <a:cubicBezTo>
                    <a:pt x="0" y="25737"/>
                    <a:pt x="3690" y="16828"/>
                    <a:pt x="10259" y="10259"/>
                  </a:cubicBezTo>
                  <a:cubicBezTo>
                    <a:pt x="16828" y="3690"/>
                    <a:pt x="25737" y="0"/>
                    <a:pt x="35027" y="0"/>
                  </a:cubicBezTo>
                  <a:lnTo>
                    <a:pt x="1441808" y="0"/>
                  </a:lnTo>
                  <a:cubicBezTo>
                    <a:pt x="1451098" y="0"/>
                    <a:pt x="1460007" y="3690"/>
                    <a:pt x="1466576" y="10259"/>
                  </a:cubicBezTo>
                  <a:cubicBezTo>
                    <a:pt x="1473144" y="16828"/>
                    <a:pt x="1476835" y="25737"/>
                    <a:pt x="1476835" y="3502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76835" cy="56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67694" y="3966885"/>
            <a:ext cx="3536460" cy="3397256"/>
            <a:chOff x="0" y="0"/>
            <a:chExt cx="656981" cy="6311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6981" cy="631121"/>
            </a:xfrm>
            <a:custGeom>
              <a:avLst/>
              <a:gdLst/>
              <a:ahLst/>
              <a:cxnLst/>
              <a:rect r="r" b="b" t="t" l="l"/>
              <a:pathLst>
                <a:path h="631121" w="656981">
                  <a:moveTo>
                    <a:pt x="89756" y="0"/>
                  </a:moveTo>
                  <a:lnTo>
                    <a:pt x="567225" y="0"/>
                  </a:lnTo>
                  <a:cubicBezTo>
                    <a:pt x="616796" y="0"/>
                    <a:pt x="656981" y="40185"/>
                    <a:pt x="656981" y="89756"/>
                  </a:cubicBezTo>
                  <a:lnTo>
                    <a:pt x="656981" y="541364"/>
                  </a:lnTo>
                  <a:cubicBezTo>
                    <a:pt x="656981" y="590935"/>
                    <a:pt x="616796" y="631121"/>
                    <a:pt x="567225" y="631121"/>
                  </a:cubicBezTo>
                  <a:lnTo>
                    <a:pt x="89756" y="631121"/>
                  </a:lnTo>
                  <a:cubicBezTo>
                    <a:pt x="40185" y="631121"/>
                    <a:pt x="0" y="590935"/>
                    <a:pt x="0" y="541364"/>
                  </a:cubicBezTo>
                  <a:lnTo>
                    <a:pt x="0" y="89756"/>
                  </a:lnTo>
                  <a:cubicBezTo>
                    <a:pt x="0" y="40185"/>
                    <a:pt x="40185" y="0"/>
                    <a:pt x="89756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2048" r="0" b="-2048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167694" y="7571998"/>
            <a:ext cx="3536460" cy="1265694"/>
            <a:chOff x="0" y="0"/>
            <a:chExt cx="1476835" cy="5284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76835" cy="528428"/>
            </a:xfrm>
            <a:custGeom>
              <a:avLst/>
              <a:gdLst/>
              <a:ahLst/>
              <a:cxnLst/>
              <a:rect r="r" b="b" t="t" l="l"/>
              <a:pathLst>
                <a:path h="528428" w="1476835">
                  <a:moveTo>
                    <a:pt x="1476835" y="35027"/>
                  </a:moveTo>
                  <a:lnTo>
                    <a:pt x="1476835" y="493401"/>
                  </a:lnTo>
                  <a:cubicBezTo>
                    <a:pt x="1476835" y="502691"/>
                    <a:pt x="1473144" y="511600"/>
                    <a:pt x="1466576" y="518169"/>
                  </a:cubicBezTo>
                  <a:cubicBezTo>
                    <a:pt x="1460007" y="524738"/>
                    <a:pt x="1451098" y="528428"/>
                    <a:pt x="1441808" y="528428"/>
                  </a:cubicBezTo>
                  <a:lnTo>
                    <a:pt x="35027" y="528428"/>
                  </a:lnTo>
                  <a:cubicBezTo>
                    <a:pt x="25737" y="528428"/>
                    <a:pt x="16828" y="524738"/>
                    <a:pt x="10259" y="518169"/>
                  </a:cubicBezTo>
                  <a:cubicBezTo>
                    <a:pt x="3690" y="511600"/>
                    <a:pt x="0" y="502691"/>
                    <a:pt x="0" y="493401"/>
                  </a:cubicBezTo>
                  <a:lnTo>
                    <a:pt x="0" y="35027"/>
                  </a:lnTo>
                  <a:cubicBezTo>
                    <a:pt x="0" y="25737"/>
                    <a:pt x="3690" y="16828"/>
                    <a:pt x="10259" y="10259"/>
                  </a:cubicBezTo>
                  <a:cubicBezTo>
                    <a:pt x="16828" y="3690"/>
                    <a:pt x="25737" y="0"/>
                    <a:pt x="35027" y="0"/>
                  </a:cubicBezTo>
                  <a:lnTo>
                    <a:pt x="1441808" y="0"/>
                  </a:lnTo>
                  <a:cubicBezTo>
                    <a:pt x="1451098" y="0"/>
                    <a:pt x="1460007" y="3690"/>
                    <a:pt x="1466576" y="10259"/>
                  </a:cubicBezTo>
                  <a:cubicBezTo>
                    <a:pt x="1473144" y="16828"/>
                    <a:pt x="1476835" y="25737"/>
                    <a:pt x="1476835" y="3502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476835" cy="56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74804" y="1445091"/>
            <a:ext cx="12613570" cy="1761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MODELS &amp; EXPLAINABILITY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27325" y="7778125"/>
            <a:ext cx="304950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baseline with Grad-CAM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88608" y="7778125"/>
            <a:ext cx="304950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EfficientNet-B0 transfer learning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53089" y="7778125"/>
            <a:ext cx="304950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Vision Transformer on image patches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14371" y="7778125"/>
            <a:ext cx="304950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ViT attention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8847" y="1073015"/>
            <a:ext cx="7830619" cy="176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EVALUATION PLAN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6343" y="1255685"/>
            <a:ext cx="7172791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 model uses the same seed, split and held-out Testing set. Metrics are reported only from actual training runs.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313856" y="5200650"/>
            <a:ext cx="15660287" cy="57150"/>
          </a:xfrm>
          <a:prstGeom prst="line">
            <a:avLst/>
          </a:prstGeom>
          <a:ln cap="flat" w="114300">
            <a:gradFill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292491" y="5841230"/>
            <a:ext cx="3703217" cy="1657095"/>
            <a:chOff x="0" y="0"/>
            <a:chExt cx="1245010" cy="556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577478" y="6181220"/>
            <a:ext cx="31332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Confusion matrix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43334" y="5841230"/>
            <a:ext cx="3703217" cy="1657095"/>
            <a:chOff x="0" y="0"/>
            <a:chExt cx="1245010" cy="556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29283" y="6452608"/>
            <a:ext cx="31332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vs ViT comparison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41449" y="5841230"/>
            <a:ext cx="3703217" cy="1657095"/>
            <a:chOff x="0" y="0"/>
            <a:chExt cx="1245010" cy="5569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26436" y="6181220"/>
            <a:ext cx="31332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Classification metrics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04460" y="4861110"/>
            <a:ext cx="679079" cy="67907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56365" y="4803960"/>
            <a:ext cx="679079" cy="67907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53518" y="4861110"/>
            <a:ext cx="679079" cy="67907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350802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Shows class-wise correct and incorrect predictions for each model.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02706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same evaluation protocol is used for every model.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99860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Accuracy, precision, recall and macro F1 on the held-out Testing split.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8847" y="1293785"/>
            <a:ext cx="6265293" cy="256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DATA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33300" y="1497330"/>
            <a:ext cx="7465406" cy="204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Conceptual model: User, MRI Study, Prediction, Explanation and Model. Key fields include image reference, predicted class, confidence, heatmap and model version. The current prototype processes images in memory and does not store them.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8847" y="5143500"/>
            <a:ext cx="7465406" cy="1272972"/>
            <a:chOff x="0" y="0"/>
            <a:chExt cx="2509847" cy="4278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9847" cy="427865"/>
            </a:xfrm>
            <a:custGeom>
              <a:avLst/>
              <a:gdLst/>
              <a:ahLst/>
              <a:cxnLst/>
              <a:rect r="r" b="b" t="t" l="l"/>
              <a:pathLst>
                <a:path h="427865" w="2509847">
                  <a:moveTo>
                    <a:pt x="2509847" y="42519"/>
                  </a:moveTo>
                  <a:lnTo>
                    <a:pt x="2509847" y="385346"/>
                  </a:lnTo>
                  <a:cubicBezTo>
                    <a:pt x="2509847" y="396623"/>
                    <a:pt x="2505367" y="407438"/>
                    <a:pt x="2497393" y="415412"/>
                  </a:cubicBezTo>
                  <a:cubicBezTo>
                    <a:pt x="2489420" y="423385"/>
                    <a:pt x="2478605" y="427865"/>
                    <a:pt x="2467328" y="427865"/>
                  </a:cubicBezTo>
                  <a:lnTo>
                    <a:pt x="42519" y="427865"/>
                  </a:lnTo>
                  <a:cubicBezTo>
                    <a:pt x="31242" y="427865"/>
                    <a:pt x="20427" y="423385"/>
                    <a:pt x="12453" y="415412"/>
                  </a:cubicBezTo>
                  <a:cubicBezTo>
                    <a:pt x="4480" y="407438"/>
                    <a:pt x="0" y="396623"/>
                    <a:pt x="0" y="385346"/>
                  </a:cubicBezTo>
                  <a:lnTo>
                    <a:pt x="0" y="42519"/>
                  </a:lnTo>
                  <a:cubicBezTo>
                    <a:pt x="0" y="31242"/>
                    <a:pt x="4480" y="20427"/>
                    <a:pt x="12453" y="12453"/>
                  </a:cubicBezTo>
                  <a:cubicBezTo>
                    <a:pt x="20427" y="4480"/>
                    <a:pt x="31242" y="0"/>
                    <a:pt x="42519" y="0"/>
                  </a:cubicBezTo>
                  <a:lnTo>
                    <a:pt x="2467328" y="0"/>
                  </a:lnTo>
                  <a:cubicBezTo>
                    <a:pt x="2478605" y="0"/>
                    <a:pt x="2489420" y="4480"/>
                    <a:pt x="2497393" y="12453"/>
                  </a:cubicBezTo>
                  <a:cubicBezTo>
                    <a:pt x="2505367" y="20427"/>
                    <a:pt x="2509847" y="31242"/>
                    <a:pt x="2509847" y="425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509847" cy="4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28847" y="5492014"/>
            <a:ext cx="74654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uploads an MRI Study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3300" y="5143500"/>
            <a:ext cx="7465406" cy="1272972"/>
            <a:chOff x="0" y="0"/>
            <a:chExt cx="2509847" cy="427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09847" cy="427865"/>
            </a:xfrm>
            <a:custGeom>
              <a:avLst/>
              <a:gdLst/>
              <a:ahLst/>
              <a:cxnLst/>
              <a:rect r="r" b="b" t="t" l="l"/>
              <a:pathLst>
                <a:path h="427865" w="2509847">
                  <a:moveTo>
                    <a:pt x="2509847" y="42519"/>
                  </a:moveTo>
                  <a:lnTo>
                    <a:pt x="2509847" y="385346"/>
                  </a:lnTo>
                  <a:cubicBezTo>
                    <a:pt x="2509847" y="396623"/>
                    <a:pt x="2505367" y="407438"/>
                    <a:pt x="2497393" y="415412"/>
                  </a:cubicBezTo>
                  <a:cubicBezTo>
                    <a:pt x="2489420" y="423385"/>
                    <a:pt x="2478605" y="427865"/>
                    <a:pt x="2467328" y="427865"/>
                  </a:cubicBezTo>
                  <a:lnTo>
                    <a:pt x="42519" y="427865"/>
                  </a:lnTo>
                  <a:cubicBezTo>
                    <a:pt x="31242" y="427865"/>
                    <a:pt x="20427" y="423385"/>
                    <a:pt x="12453" y="415412"/>
                  </a:cubicBezTo>
                  <a:cubicBezTo>
                    <a:pt x="4480" y="407438"/>
                    <a:pt x="0" y="396623"/>
                    <a:pt x="0" y="385346"/>
                  </a:cubicBezTo>
                  <a:lnTo>
                    <a:pt x="0" y="42519"/>
                  </a:lnTo>
                  <a:cubicBezTo>
                    <a:pt x="0" y="31242"/>
                    <a:pt x="4480" y="20427"/>
                    <a:pt x="12453" y="12453"/>
                  </a:cubicBezTo>
                  <a:cubicBezTo>
                    <a:pt x="20427" y="4480"/>
                    <a:pt x="31242" y="0"/>
                    <a:pt x="42519" y="0"/>
                  </a:cubicBezTo>
                  <a:lnTo>
                    <a:pt x="2467328" y="0"/>
                  </a:lnTo>
                  <a:cubicBezTo>
                    <a:pt x="2478605" y="0"/>
                    <a:pt x="2489420" y="4480"/>
                    <a:pt x="2497393" y="12453"/>
                  </a:cubicBezTo>
                  <a:cubicBezTo>
                    <a:pt x="2505367" y="20427"/>
                    <a:pt x="2509847" y="31242"/>
                    <a:pt x="2509847" y="425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509847" cy="4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533300" y="5492014"/>
            <a:ext cx="74654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MRI Study produces a Prediction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28847" y="7190270"/>
            <a:ext cx="7465406" cy="1272972"/>
            <a:chOff x="0" y="0"/>
            <a:chExt cx="2509847" cy="4278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09847" cy="427865"/>
            </a:xfrm>
            <a:custGeom>
              <a:avLst/>
              <a:gdLst/>
              <a:ahLst/>
              <a:cxnLst/>
              <a:rect r="r" b="b" t="t" l="l"/>
              <a:pathLst>
                <a:path h="427865" w="2509847">
                  <a:moveTo>
                    <a:pt x="2509847" y="42519"/>
                  </a:moveTo>
                  <a:lnTo>
                    <a:pt x="2509847" y="385346"/>
                  </a:lnTo>
                  <a:cubicBezTo>
                    <a:pt x="2509847" y="396623"/>
                    <a:pt x="2505367" y="407438"/>
                    <a:pt x="2497393" y="415412"/>
                  </a:cubicBezTo>
                  <a:cubicBezTo>
                    <a:pt x="2489420" y="423385"/>
                    <a:pt x="2478605" y="427865"/>
                    <a:pt x="2467328" y="427865"/>
                  </a:cubicBezTo>
                  <a:lnTo>
                    <a:pt x="42519" y="427865"/>
                  </a:lnTo>
                  <a:cubicBezTo>
                    <a:pt x="31242" y="427865"/>
                    <a:pt x="20427" y="423385"/>
                    <a:pt x="12453" y="415412"/>
                  </a:cubicBezTo>
                  <a:cubicBezTo>
                    <a:pt x="4480" y="407438"/>
                    <a:pt x="0" y="396623"/>
                    <a:pt x="0" y="385346"/>
                  </a:cubicBezTo>
                  <a:lnTo>
                    <a:pt x="0" y="42519"/>
                  </a:lnTo>
                  <a:cubicBezTo>
                    <a:pt x="0" y="31242"/>
                    <a:pt x="4480" y="20427"/>
                    <a:pt x="12453" y="12453"/>
                  </a:cubicBezTo>
                  <a:cubicBezTo>
                    <a:pt x="20427" y="4480"/>
                    <a:pt x="31242" y="0"/>
                    <a:pt x="42519" y="0"/>
                  </a:cubicBezTo>
                  <a:lnTo>
                    <a:pt x="2467328" y="0"/>
                  </a:lnTo>
                  <a:cubicBezTo>
                    <a:pt x="2478605" y="0"/>
                    <a:pt x="2489420" y="4480"/>
                    <a:pt x="2497393" y="12453"/>
                  </a:cubicBezTo>
                  <a:cubicBezTo>
                    <a:pt x="2505367" y="20427"/>
                    <a:pt x="2509847" y="31242"/>
                    <a:pt x="2509847" y="425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509847" cy="4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28847" y="7538784"/>
            <a:ext cx="74654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Prediction has an Explanation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33300" y="7190270"/>
            <a:ext cx="7465406" cy="1272972"/>
            <a:chOff x="0" y="0"/>
            <a:chExt cx="2509847" cy="4278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09847" cy="427865"/>
            </a:xfrm>
            <a:custGeom>
              <a:avLst/>
              <a:gdLst/>
              <a:ahLst/>
              <a:cxnLst/>
              <a:rect r="r" b="b" t="t" l="l"/>
              <a:pathLst>
                <a:path h="427865" w="2509847">
                  <a:moveTo>
                    <a:pt x="2509847" y="42519"/>
                  </a:moveTo>
                  <a:lnTo>
                    <a:pt x="2509847" y="385346"/>
                  </a:lnTo>
                  <a:cubicBezTo>
                    <a:pt x="2509847" y="396623"/>
                    <a:pt x="2505367" y="407438"/>
                    <a:pt x="2497393" y="415412"/>
                  </a:cubicBezTo>
                  <a:cubicBezTo>
                    <a:pt x="2489420" y="423385"/>
                    <a:pt x="2478605" y="427865"/>
                    <a:pt x="2467328" y="427865"/>
                  </a:cubicBezTo>
                  <a:lnTo>
                    <a:pt x="42519" y="427865"/>
                  </a:lnTo>
                  <a:cubicBezTo>
                    <a:pt x="31242" y="427865"/>
                    <a:pt x="20427" y="423385"/>
                    <a:pt x="12453" y="415412"/>
                  </a:cubicBezTo>
                  <a:cubicBezTo>
                    <a:pt x="4480" y="407438"/>
                    <a:pt x="0" y="396623"/>
                    <a:pt x="0" y="385346"/>
                  </a:cubicBezTo>
                  <a:lnTo>
                    <a:pt x="0" y="42519"/>
                  </a:lnTo>
                  <a:cubicBezTo>
                    <a:pt x="0" y="31242"/>
                    <a:pt x="4480" y="20427"/>
                    <a:pt x="12453" y="12453"/>
                  </a:cubicBezTo>
                  <a:cubicBezTo>
                    <a:pt x="20427" y="4480"/>
                    <a:pt x="31242" y="0"/>
                    <a:pt x="42519" y="0"/>
                  </a:cubicBezTo>
                  <a:lnTo>
                    <a:pt x="2467328" y="0"/>
                  </a:lnTo>
                  <a:cubicBezTo>
                    <a:pt x="2478605" y="0"/>
                    <a:pt x="2489420" y="4480"/>
                    <a:pt x="2497393" y="12453"/>
                  </a:cubicBezTo>
                  <a:cubicBezTo>
                    <a:pt x="2505367" y="20427"/>
                    <a:pt x="2509847" y="31242"/>
                    <a:pt x="2509847" y="4251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509847" cy="4754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33300" y="7538784"/>
            <a:ext cx="746540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generates each Prediction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03144" y="5203633"/>
            <a:ext cx="3703217" cy="3830665"/>
            <a:chOff x="0" y="0"/>
            <a:chExt cx="607727" cy="628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7727" cy="628642"/>
            </a:xfrm>
            <a:custGeom>
              <a:avLst/>
              <a:gdLst/>
              <a:ahLst/>
              <a:cxnLst/>
              <a:rect r="r" b="b" t="t" l="l"/>
              <a:pathLst>
                <a:path h="628642" w="607727">
                  <a:moveTo>
                    <a:pt x="85714" y="0"/>
                  </a:moveTo>
                  <a:lnTo>
                    <a:pt x="522013" y="0"/>
                  </a:lnTo>
                  <a:cubicBezTo>
                    <a:pt x="544746" y="0"/>
                    <a:pt x="566547" y="9031"/>
                    <a:pt x="582622" y="25105"/>
                  </a:cubicBezTo>
                  <a:cubicBezTo>
                    <a:pt x="598696" y="41180"/>
                    <a:pt x="607727" y="62981"/>
                    <a:pt x="607727" y="85714"/>
                  </a:cubicBezTo>
                  <a:lnTo>
                    <a:pt x="607727" y="542928"/>
                  </a:lnTo>
                  <a:cubicBezTo>
                    <a:pt x="607727" y="590267"/>
                    <a:pt x="569351" y="628642"/>
                    <a:pt x="522013" y="628642"/>
                  </a:cubicBezTo>
                  <a:lnTo>
                    <a:pt x="85714" y="628642"/>
                  </a:lnTo>
                  <a:cubicBezTo>
                    <a:pt x="62981" y="628642"/>
                    <a:pt x="41180" y="619612"/>
                    <a:pt x="25105" y="603537"/>
                  </a:cubicBezTo>
                  <a:cubicBezTo>
                    <a:pt x="9031" y="587463"/>
                    <a:pt x="0" y="565661"/>
                    <a:pt x="0" y="542928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close/>
                </a:path>
              </a:pathLst>
            </a:custGeom>
            <a:blipFill>
              <a:blip r:embed="rId5"/>
              <a:stretch>
                <a:fillRect l="-55162" t="0" r="0" b="0"/>
              </a:stretch>
            </a:blipFill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503144" y="1312835"/>
            <a:ext cx="3703217" cy="3710399"/>
            <a:chOff x="0" y="0"/>
            <a:chExt cx="1245010" cy="12471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40783" y="1312835"/>
            <a:ext cx="3703217" cy="3710399"/>
            <a:chOff x="0" y="0"/>
            <a:chExt cx="1245010" cy="12471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40783" y="5263766"/>
            <a:ext cx="3703217" cy="3710399"/>
            <a:chOff x="0" y="0"/>
            <a:chExt cx="1245010" cy="12471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5010" cy="1247121"/>
            </a:xfrm>
            <a:custGeom>
              <a:avLst/>
              <a:gdLst/>
              <a:ahLst/>
              <a:cxnLst/>
              <a:rect r="r" b="b" t="t" l="l"/>
              <a:pathLst>
                <a:path h="1247121" w="1245010">
                  <a:moveTo>
                    <a:pt x="1245010" y="85714"/>
                  </a:moveTo>
                  <a:lnTo>
                    <a:pt x="1245010" y="1161406"/>
                  </a:lnTo>
                  <a:cubicBezTo>
                    <a:pt x="1245010" y="1208745"/>
                    <a:pt x="1206635" y="1247121"/>
                    <a:pt x="1159296" y="1247121"/>
                  </a:cubicBezTo>
                  <a:lnTo>
                    <a:pt x="85714" y="1247121"/>
                  </a:lnTo>
                  <a:cubicBezTo>
                    <a:pt x="38376" y="1247121"/>
                    <a:pt x="0" y="1208745"/>
                    <a:pt x="0" y="1161406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107CA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245010" cy="1304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885507" y="2308562"/>
            <a:ext cx="29384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75.94%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test accuracy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23146" y="2230518"/>
            <a:ext cx="293849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75.25%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CNN test macro F1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23146" y="5978506"/>
            <a:ext cx="2938491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83.33%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Validation accuracy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4125" y="1293785"/>
            <a:ext cx="7115175" cy="176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PROGRESS &amp;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09130" y="5899495"/>
            <a:ext cx="4250170" cy="307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CNN baseline was trained on CPU (seed 42, stopped early after 7 epochs) and tested on the held-out Testing split. The 97% accuracy target has not been achieved. EfficientNet-B0 and ViT results will be added after training.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126057" y="4869652"/>
            <a:ext cx="3133243" cy="547695"/>
            <a:chOff x="0" y="0"/>
            <a:chExt cx="1091228" cy="1907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228" cy="190748"/>
            </a:xfrm>
            <a:custGeom>
              <a:avLst/>
              <a:gdLst/>
              <a:ahLst/>
              <a:cxnLst/>
              <a:rect r="r" b="b" t="t" l="l"/>
              <a:pathLst>
                <a:path h="190748" w="1091228">
                  <a:moveTo>
                    <a:pt x="95374" y="0"/>
                  </a:moveTo>
                  <a:lnTo>
                    <a:pt x="995854" y="0"/>
                  </a:lnTo>
                  <a:cubicBezTo>
                    <a:pt x="1048528" y="0"/>
                    <a:pt x="1091228" y="42700"/>
                    <a:pt x="1091228" y="95374"/>
                  </a:cubicBezTo>
                  <a:lnTo>
                    <a:pt x="1091228" y="95374"/>
                  </a:lnTo>
                  <a:cubicBezTo>
                    <a:pt x="1091228" y="120669"/>
                    <a:pt x="1081180" y="144928"/>
                    <a:pt x="1063294" y="162814"/>
                  </a:cubicBezTo>
                  <a:cubicBezTo>
                    <a:pt x="1045408" y="180700"/>
                    <a:pt x="1021149" y="190748"/>
                    <a:pt x="995854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1228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126057" y="4922084"/>
            <a:ext cx="31332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Measured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08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2427">
            <a:off x="1903808" y="1886393"/>
            <a:ext cx="14480383" cy="6131333"/>
          </a:xfrm>
          <a:custGeom>
            <a:avLst/>
            <a:gdLst/>
            <a:ahLst/>
            <a:cxnLst/>
            <a:rect r="r" b="b" t="t" l="l"/>
            <a:pathLst>
              <a:path h="6131333" w="14480383">
                <a:moveTo>
                  <a:pt x="0" y="0"/>
                </a:moveTo>
                <a:lnTo>
                  <a:pt x="14480384" y="0"/>
                </a:lnTo>
                <a:lnTo>
                  <a:pt x="14480384" y="6131333"/>
                </a:lnTo>
                <a:lnTo>
                  <a:pt x="0" y="6131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1228" y="2337587"/>
            <a:ext cx="12005544" cy="477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24"/>
              </a:lnSpc>
            </a:pPr>
            <a:r>
              <a:rPr lang="en-US" sz="11593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674311" y="632770"/>
            <a:ext cx="3900594" cy="547695"/>
            <a:chOff x="0" y="0"/>
            <a:chExt cx="1358477" cy="190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8477" cy="190748"/>
            </a:xfrm>
            <a:custGeom>
              <a:avLst/>
              <a:gdLst/>
              <a:ahLst/>
              <a:cxnLst/>
              <a:rect r="r" b="b" t="t" l="l"/>
              <a:pathLst>
                <a:path h="190748" w="1358477">
                  <a:moveTo>
                    <a:pt x="95374" y="0"/>
                  </a:moveTo>
                  <a:lnTo>
                    <a:pt x="1263103" y="0"/>
                  </a:lnTo>
                  <a:cubicBezTo>
                    <a:pt x="1315776" y="0"/>
                    <a:pt x="1358477" y="42700"/>
                    <a:pt x="1358477" y="95374"/>
                  </a:cubicBezTo>
                  <a:lnTo>
                    <a:pt x="1358477" y="95374"/>
                  </a:lnTo>
                  <a:cubicBezTo>
                    <a:pt x="1358477" y="120669"/>
                    <a:pt x="1348429" y="144928"/>
                    <a:pt x="1330542" y="162814"/>
                  </a:cubicBezTo>
                  <a:cubicBezTo>
                    <a:pt x="1312656" y="180700"/>
                    <a:pt x="1288398" y="190748"/>
                    <a:pt x="1263103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58477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1480" y="637016"/>
            <a:ext cx="3133243" cy="547695"/>
            <a:chOff x="0" y="0"/>
            <a:chExt cx="1091228" cy="1907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1228" cy="190748"/>
            </a:xfrm>
            <a:custGeom>
              <a:avLst/>
              <a:gdLst/>
              <a:ahLst/>
              <a:cxnLst/>
              <a:rect r="r" b="b" t="t" l="l"/>
              <a:pathLst>
                <a:path h="190748" w="1091228">
                  <a:moveTo>
                    <a:pt x="95374" y="0"/>
                  </a:moveTo>
                  <a:lnTo>
                    <a:pt x="995854" y="0"/>
                  </a:lnTo>
                  <a:cubicBezTo>
                    <a:pt x="1048528" y="0"/>
                    <a:pt x="1091228" y="42700"/>
                    <a:pt x="1091228" y="95374"/>
                  </a:cubicBezTo>
                  <a:lnTo>
                    <a:pt x="1091228" y="95374"/>
                  </a:lnTo>
                  <a:cubicBezTo>
                    <a:pt x="1091228" y="120669"/>
                    <a:pt x="1081180" y="144928"/>
                    <a:pt x="1063294" y="162814"/>
                  </a:cubicBezTo>
                  <a:cubicBezTo>
                    <a:pt x="1045408" y="180700"/>
                    <a:pt x="1021149" y="190748"/>
                    <a:pt x="995854" y="190748"/>
                  </a:cubicBezTo>
                  <a:lnTo>
                    <a:pt x="95374" y="190748"/>
                  </a:lnTo>
                  <a:cubicBezTo>
                    <a:pt x="42700" y="190748"/>
                    <a:pt x="0" y="148048"/>
                    <a:pt x="0" y="95374"/>
                  </a:cubicBezTo>
                  <a:lnTo>
                    <a:pt x="0" y="95374"/>
                  </a:lnTo>
                  <a:cubicBezTo>
                    <a:pt x="0" y="42700"/>
                    <a:pt x="42700" y="0"/>
                    <a:pt x="9537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1228" cy="22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61480" y="689447"/>
            <a:ext cx="31332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MediVision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4311" y="678163"/>
            <a:ext cx="390059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Supervisor: Sweta Sri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262658"/>
            <a:ext cx="487245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Kumkum Gupta • 2501640130039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902065"/>
            <a:ext cx="487245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Shatakshi Gupta • 2501640130062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39835" y="8260897"/>
            <a:ext cx="48194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Riya Choudhary • 2501640130056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39835" y="8902065"/>
            <a:ext cx="481946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17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Piyush Kumar Singh • 2501640130048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18288000"/>
                </a:move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lnTo>
                  <a:pt x="10287000" y="18288000"/>
                </a:lnTo>
                <a:close/>
              </a:path>
            </a:pathLst>
          </a:custGeom>
          <a:blipFill>
            <a:blip r:embed="rId2"/>
            <a:stretch>
              <a:fillRect l="-13555" t="0" r="-135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9258300"/>
            <a:ext cx="483860" cy="483860"/>
          </a:xfrm>
          <a:custGeom>
            <a:avLst/>
            <a:gdLst/>
            <a:ahLst/>
            <a:cxnLst/>
            <a:rect r="r" b="b" t="t" l="l"/>
            <a:pathLst>
              <a:path h="483860" w="483860">
                <a:moveTo>
                  <a:pt x="0" y="0"/>
                </a:moveTo>
                <a:lnTo>
                  <a:pt x="483860" y="0"/>
                </a:lnTo>
                <a:lnTo>
                  <a:pt x="483860" y="483860"/>
                </a:lnTo>
                <a:lnTo>
                  <a:pt x="0" y="48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8847" y="1073015"/>
            <a:ext cx="7830619" cy="176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26"/>
              </a:lnSpc>
            </a:pPr>
            <a:r>
              <a:rPr lang="en-US" sz="6202">
                <a:solidFill>
                  <a:srgbClr val="FFFFFF"/>
                </a:solidFill>
                <a:latin typeface="Academy"/>
                <a:ea typeface="Academy"/>
                <a:cs typeface="Academy"/>
                <a:sym typeface="Academy"/>
              </a:rPr>
              <a:t>PROJECT TIMELINE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16343" y="1255685"/>
            <a:ext cx="7172791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18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Synopsis schedule: 13 July 2026 to 20 November 2026. Phase dates are indicative.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313856" y="5200650"/>
            <a:ext cx="15660287" cy="57150"/>
          </a:xfrm>
          <a:prstGeom prst="line">
            <a:avLst/>
          </a:prstGeom>
          <a:ln cap="flat" w="114300">
            <a:gradFill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7292491" y="5841230"/>
            <a:ext cx="3703217" cy="1657095"/>
            <a:chOff x="0" y="0"/>
            <a:chExt cx="1245010" cy="556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577478" y="6181220"/>
            <a:ext cx="31332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Sep – Oct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643334" y="5841230"/>
            <a:ext cx="3703217" cy="1657095"/>
            <a:chOff x="0" y="0"/>
            <a:chExt cx="1245010" cy="556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929283" y="6452608"/>
            <a:ext cx="31332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November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41449" y="5841230"/>
            <a:ext cx="3703217" cy="1657095"/>
            <a:chOff x="0" y="0"/>
            <a:chExt cx="1245010" cy="5569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5010" cy="556975"/>
            </a:xfrm>
            <a:custGeom>
              <a:avLst/>
              <a:gdLst/>
              <a:ahLst/>
              <a:cxnLst/>
              <a:rect r="r" b="b" t="t" l="l"/>
              <a:pathLst>
                <a:path h="556975" w="1245010">
                  <a:moveTo>
                    <a:pt x="1245010" y="85714"/>
                  </a:moveTo>
                  <a:lnTo>
                    <a:pt x="1245010" y="471260"/>
                  </a:lnTo>
                  <a:cubicBezTo>
                    <a:pt x="1245010" y="493993"/>
                    <a:pt x="1235980" y="515795"/>
                    <a:pt x="1219905" y="531869"/>
                  </a:cubicBezTo>
                  <a:cubicBezTo>
                    <a:pt x="1203831" y="547944"/>
                    <a:pt x="1182029" y="556975"/>
                    <a:pt x="1159296" y="556975"/>
                  </a:cubicBezTo>
                  <a:lnTo>
                    <a:pt x="85714" y="556975"/>
                  </a:lnTo>
                  <a:cubicBezTo>
                    <a:pt x="38376" y="556975"/>
                    <a:pt x="0" y="518599"/>
                    <a:pt x="0" y="471260"/>
                  </a:cubicBezTo>
                  <a:lnTo>
                    <a:pt x="0" y="85714"/>
                  </a:lnTo>
                  <a:cubicBezTo>
                    <a:pt x="0" y="62981"/>
                    <a:pt x="9031" y="41180"/>
                    <a:pt x="25105" y="25105"/>
                  </a:cubicBezTo>
                  <a:cubicBezTo>
                    <a:pt x="41180" y="9031"/>
                    <a:pt x="62981" y="0"/>
                    <a:pt x="85714" y="0"/>
                  </a:cubicBezTo>
                  <a:lnTo>
                    <a:pt x="1159296" y="0"/>
                  </a:lnTo>
                  <a:cubicBezTo>
                    <a:pt x="1182029" y="0"/>
                    <a:pt x="1203831" y="9031"/>
                    <a:pt x="1219905" y="25105"/>
                  </a:cubicBezTo>
                  <a:cubicBezTo>
                    <a:pt x="1235980" y="41180"/>
                    <a:pt x="1245010" y="62981"/>
                    <a:pt x="1245010" y="85714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5817BF">
                      <a:alpha val="100000"/>
                    </a:srgbClr>
                  </a:gs>
                  <a:gs pos="100000">
                    <a:srgbClr val="02BB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245010" cy="614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26436" y="6181220"/>
            <a:ext cx="313324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Jul – Aug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04460" y="4861110"/>
            <a:ext cx="679079" cy="67907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156365" y="4803960"/>
            <a:ext cx="679079" cy="67907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453518" y="4861110"/>
            <a:ext cx="679079" cy="67907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817BF">
                    <a:alpha val="100000"/>
                  </a:srgbClr>
                </a:gs>
                <a:gs pos="100000">
                  <a:srgbClr val="02B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142875"/>
              <a:ext cx="6604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1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7350802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ViT implementation, training and tuning, XAI, evaluation, FastAPI backend and web interface.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02706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Final testing, project report and presentation.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99860" y="7755500"/>
            <a:ext cx="3586396" cy="9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16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definition, literature survey, dataset analysis, preprocessing and CNN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DAHXBs8antw</dc:identifier>
  <dcterms:modified xsi:type="dcterms:W3CDTF">2011-08-01T06:04:30Z</dcterms:modified>
  <cp:revision>1</cp:revision>
  <dc:title>Blue and Purple Futuristic Gradient Tech Club Presentation</dc:title>
</cp:coreProperties>
</file>